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88" r:id="rId2"/>
    <p:sldId id="283" r:id="rId3"/>
    <p:sldId id="287" r:id="rId4"/>
    <p:sldId id="285" r:id="rId5"/>
    <p:sldId id="286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32"/>
    <p:restoredTop sz="94628"/>
  </p:normalViewPr>
  <p:slideViewPr>
    <p:cSldViewPr snapToGrid="0">
      <p:cViewPr varScale="1">
        <p:scale>
          <a:sx n="62" d="100"/>
          <a:sy n="62" d="100"/>
        </p:scale>
        <p:origin x="232" y="1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64C766-9BB2-7F2B-9FDD-DA524A96EE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B0BA4B4-1FAA-3FB6-5F47-272BA3FA2B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0FDE1E4-F767-CA0F-03CC-606C81059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8BC07-CA69-F246-AF69-FBECB96740DF}" type="datetimeFigureOut">
              <a:rPr lang="de-DE" smtClean="0"/>
              <a:t>22.03.26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2B76C85-C775-88E1-9FD3-2A7CB1AF4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FD4594F-0C2A-A566-F5DD-9EFCDEC53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95158-85A0-E44C-9016-90E5EBB0050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86746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11BB90-3B49-E48D-3543-032C1DA8A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748CD4A-0533-8BAE-ECE6-E717928D67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4E5D5E9-322B-D858-EBB7-A485BFF30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8BC07-CA69-F246-AF69-FBECB96740DF}" type="datetimeFigureOut">
              <a:rPr lang="de-DE" smtClean="0"/>
              <a:t>22.03.26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BCE1CFA-2558-2546-954F-8CBACD076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37906C2-6455-13B3-859F-76260D7A3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95158-85A0-E44C-9016-90E5EBB0050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21493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82A30D-14F9-FB67-56E8-5D312EB3C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76AE781-4055-EC71-7DA1-A190D4FC7A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BD5B684-235A-B010-7B8A-EE7E7BA99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8BC07-CA69-F246-AF69-FBECB96740DF}" type="datetimeFigureOut">
              <a:rPr lang="de-DE" smtClean="0"/>
              <a:t>22.03.26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785DF58-ACC3-4029-981D-34BF844DD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D9A3336-C009-0AEE-E75F-6ADC3BDED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95158-85A0-E44C-9016-90E5EBB0050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33532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0D159D-B360-13EE-2BAF-8DA4F8ACA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802578C-84C8-DD95-C867-0450C40234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A67B6C5-BAC3-050D-EE0B-429F80B930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8C96F5C-FE48-0040-8088-797179EF5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8BC07-CA69-F246-AF69-FBECB96740DF}" type="datetimeFigureOut">
              <a:rPr lang="de-DE" smtClean="0"/>
              <a:t>22.03.26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A6C65F3-802A-677A-7636-E8940A9A2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6C1505F-C578-67BD-0C70-77E0D3CD5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95158-85A0-E44C-9016-90E5EBB0050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56722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7E8775-7DDF-8CB9-A891-E1FB8CFBC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3BFA346-CDE3-FF3E-723C-76BC5EB119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EE8C11B-633C-3F59-7586-E9DB95F1B8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D95AA07-EF2C-0A66-0ADA-DA97BD1A7B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FAB9E6E-AC6E-8BE2-A8A6-1BBFD5244F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E9B0EE9-951C-6B10-78B0-A243B2279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8BC07-CA69-F246-AF69-FBECB96740DF}" type="datetimeFigureOut">
              <a:rPr lang="de-DE" smtClean="0"/>
              <a:t>22.03.26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F634058-756E-3B61-D107-24B9BF784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BA7AE4C-09B6-C5E1-F702-DE3CEE61F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95158-85A0-E44C-9016-90E5EBB0050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87993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04405E-CAE5-C26B-C616-2A0CB83E1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4E28D61-77B5-6605-6EC5-573DEB3AB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8BC07-CA69-F246-AF69-FBECB96740DF}" type="datetimeFigureOut">
              <a:rPr lang="de-DE" smtClean="0"/>
              <a:t>22.03.26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E7D191E-C84B-F75F-B657-39491C51C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4322414-0F1B-F92B-3971-8FD56B0BB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95158-85A0-E44C-9016-90E5EBB0050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94667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52F5538-CBC4-A62C-3124-C33E8D152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8BC07-CA69-F246-AF69-FBECB96740DF}" type="datetimeFigureOut">
              <a:rPr lang="de-DE" smtClean="0"/>
              <a:t>22.03.26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7302C21-CCB3-60AF-C894-15F77AC28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05AB961-2D33-38D3-CCDC-71A69666F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95158-85A0-E44C-9016-90E5EBB0050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39778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B9BD4A-FE79-DD2F-CE73-83ECA87FD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34B5EC5-9ABE-6CFE-40A1-38DA957F87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4B5F259-DF18-CDDC-3C93-254DD76337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FB63189-D4E4-9716-BF33-ACF816441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8BC07-CA69-F246-AF69-FBECB96740DF}" type="datetimeFigureOut">
              <a:rPr lang="de-DE" smtClean="0"/>
              <a:t>22.03.26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C645E2E-5AEC-E5FD-BDA6-549F17777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7D47856-4805-22AD-17A9-9F5E6F401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95158-85A0-E44C-9016-90E5EBB0050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05938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0157AB-44AE-10BD-9DE5-36BD100B4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465DFA1B-EAE4-4624-A723-879377E837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9D03F85-7C84-2BAB-3236-A405CCB553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A3779F8-5DD6-391D-34D2-2261D6169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8BC07-CA69-F246-AF69-FBECB96740DF}" type="datetimeFigureOut">
              <a:rPr lang="de-DE" smtClean="0"/>
              <a:t>22.03.26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80003C7-7BBE-098C-CA0C-76767DB36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1BE2AF8-8612-6DDD-30BF-A7C04F712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95158-85A0-E44C-9016-90E5EBB0050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15930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7AE54D-5CCF-47A3-4499-64BD7E084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377BF17-D5C9-EA6F-F09D-92619EA85C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3AD3378-6A4B-B16B-E7B6-13BF2C3AB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8BC07-CA69-F246-AF69-FBECB96740DF}" type="datetimeFigureOut">
              <a:rPr lang="de-DE" smtClean="0"/>
              <a:t>22.03.26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BFADF1-914D-47CF-B638-2B3B7222E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D56BFB8-6626-5A82-BFCE-F533A1639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95158-85A0-E44C-9016-90E5EBB0050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6668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16F6DF87-CCAF-FCF6-1481-F4C645DB13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9D91550-C8E2-CBD3-9B9E-980629FF74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E0D4BB6-AEDB-46DC-02AA-63FCFDA2D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8BC07-CA69-F246-AF69-FBECB96740DF}" type="datetimeFigureOut">
              <a:rPr lang="de-DE" smtClean="0"/>
              <a:t>22.03.26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F384A5F-06D9-F931-AC8A-9E9807770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F96299F-59D3-5F7B-1814-76CA4F611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95158-85A0-E44C-9016-90E5EBB0050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62475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A61451C-018C-39AE-45D8-086BADB92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F855F7E-FB8B-ADCE-66D8-863F1E9472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614501F-8C10-57C2-5163-E4EAD5ED83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D8BC07-CA69-F246-AF69-FBECB96740DF}" type="datetimeFigureOut">
              <a:rPr lang="de-DE" smtClean="0"/>
              <a:t>22.03.26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B741899-D6EF-FF61-DBDA-6AD3866A35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D2206EF-D0CE-3DE1-2B61-D820970B97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095158-85A0-E44C-9016-90E5EBB00501}" type="slidenum">
              <a:rPr lang="de-DE" smtClean="0"/>
              <a:t>‹Nr.›</a:t>
            </a:fld>
            <a:endParaRPr lang="de-DE"/>
          </a:p>
        </p:txBody>
      </p:sp>
      <p:sp>
        <p:nvSpPr>
          <p:cNvPr id="100" name="BottomAccent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79941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E293B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475569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475569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475569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475569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475569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rgbClr val="475569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rgbClr val="475569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rgbClr val="475569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rgbClr val="475569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rgbClr val="475569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Label"/>
          <p:cNvSpPr txBox="1"/>
          <p:nvPr/>
        </p:nvSpPr>
        <p:spPr>
          <a:xfrm>
            <a:off x="457200" y="457200"/>
            <a:ext cx="2743200" cy="320040"/>
          </a:xfrm>
          <a:prstGeom prst="roundRect">
            <a:avLst>
              <a:gd name="adj" fmla="val 16000"/>
            </a:avLst>
          </a:prstGeom>
          <a:solidFill>
            <a:srgbClr val="22C55E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de-DE" sz="1600" b="1" dirty="0">
                <a:solidFill>
                  <a:schemeClr val="bg2">
                    <a:lumMod val="10000"/>
                  </a:schemeClr>
                </a:solidFill>
                <a:latin typeface="Inter"/>
              </a:rPr>
              <a:t>Das Problem</a:t>
            </a:r>
          </a:p>
        </p:txBody>
      </p:sp>
      <p:sp>
        <p:nvSpPr>
          <p:cNvPr id="12" name="Headline"/>
          <p:cNvSpPr txBox="1"/>
          <p:nvPr/>
        </p:nvSpPr>
        <p:spPr>
          <a:xfrm>
            <a:off x="457199" y="914400"/>
            <a:ext cx="9525000" cy="1244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lnSpc>
                <a:spcPts val="3600"/>
              </a:lnSpc>
            </a:pPr>
            <a:r>
              <a:rPr lang="de-DE" sz="2800" b="1" dirty="0">
                <a:solidFill>
                  <a:srgbClr val="1E293B"/>
                </a:solidFill>
                <a:latin typeface="Montserrat"/>
              </a:rPr>
              <a:t>Städte brauchen mehr Grün –</a:t>
            </a:r>
          </a:p>
          <a:p>
            <a:pPr algn="l">
              <a:lnSpc>
                <a:spcPts val="3600"/>
              </a:lnSpc>
            </a:pPr>
            <a:r>
              <a:rPr lang="de-DE" sz="2800" b="1" dirty="0">
                <a:solidFill>
                  <a:srgbClr val="1E293B"/>
                </a:solidFill>
                <a:latin typeface="Montserrat"/>
              </a:rPr>
              <a:t>aber verschwenden das Wasser,</a:t>
            </a:r>
          </a:p>
          <a:p>
            <a:pPr algn="l">
              <a:lnSpc>
                <a:spcPts val="3600"/>
              </a:lnSpc>
            </a:pPr>
            <a:r>
              <a:rPr lang="de-DE" sz="2800" b="1" dirty="0">
                <a:solidFill>
                  <a:srgbClr val="1E293B"/>
                </a:solidFill>
                <a:latin typeface="Montserrat"/>
              </a:rPr>
              <a:t>das es am Leben hält.</a:t>
            </a:r>
          </a:p>
        </p:txBody>
      </p:sp>
      <p:sp>
        <p:nvSpPr>
          <p:cNvPr id="20" name="Stat0"/>
          <p:cNvSpPr txBox="1"/>
          <p:nvPr/>
        </p:nvSpPr>
        <p:spPr>
          <a:xfrm>
            <a:off x="457199" y="2667000"/>
            <a:ext cx="2560320" cy="2540000"/>
          </a:xfrm>
          <a:prstGeom prst="roundRect">
            <a:avLst>
              <a:gd name="adj" fmla="val 16000"/>
            </a:avLst>
          </a:prstGeom>
          <a:solidFill>
            <a:srgbClr val="F0FDF4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spcAft>
                <a:spcPts val="600"/>
              </a:spcAft>
            </a:pPr>
            <a:r>
              <a:rPr lang="de-DE" sz="3600" b="1" dirty="0">
                <a:solidFill>
                  <a:srgbClr val="22C55E"/>
                </a:solidFill>
                <a:latin typeface="Montserrat"/>
              </a:rPr>
              <a:t>+2–8°C</a:t>
            </a:r>
          </a:p>
          <a:p>
            <a:pPr algn="ctr">
              <a:lnSpc>
                <a:spcPts val="1800"/>
              </a:lnSpc>
            </a:pPr>
            <a:r>
              <a:rPr lang="de-DE" sz="1400" dirty="0">
                <a:solidFill>
                  <a:srgbClr val="64748B"/>
                </a:solidFill>
                <a:latin typeface="Inter"/>
              </a:rPr>
              <a:t>Urban Heat</a:t>
            </a:r>
          </a:p>
          <a:p>
            <a:pPr algn="ctr">
              <a:lnSpc>
                <a:spcPts val="1800"/>
              </a:lnSpc>
            </a:pPr>
            <a:r>
              <a:rPr lang="de-DE" sz="1400" dirty="0">
                <a:solidFill>
                  <a:srgbClr val="64748B"/>
                </a:solidFill>
                <a:latin typeface="Inter"/>
              </a:rPr>
              <a:t>Island Effect</a:t>
            </a:r>
          </a:p>
        </p:txBody>
      </p:sp>
      <p:sp>
        <p:nvSpPr>
          <p:cNvPr id="21" name="Stat1"/>
          <p:cNvSpPr txBox="1"/>
          <p:nvPr/>
        </p:nvSpPr>
        <p:spPr>
          <a:xfrm>
            <a:off x="3200400" y="2667000"/>
            <a:ext cx="2560320" cy="2540000"/>
          </a:xfrm>
          <a:prstGeom prst="roundRect">
            <a:avLst>
              <a:gd name="adj" fmla="val 16000"/>
            </a:avLst>
          </a:prstGeom>
          <a:solidFill>
            <a:srgbClr val="F0FDF4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spcAft>
                <a:spcPts val="600"/>
              </a:spcAft>
            </a:pPr>
            <a:r>
              <a:rPr lang="de-DE" sz="3600" b="1" dirty="0">
                <a:solidFill>
                  <a:srgbClr val="22C55E"/>
                </a:solidFill>
                <a:latin typeface="Montserrat"/>
              </a:rPr>
              <a:t>50%</a:t>
            </a:r>
          </a:p>
          <a:p>
            <a:pPr algn="ctr">
              <a:lnSpc>
                <a:spcPts val="1800"/>
              </a:lnSpc>
            </a:pPr>
            <a:r>
              <a:rPr lang="de-DE" sz="1400" dirty="0">
                <a:solidFill>
                  <a:srgbClr val="64748B"/>
                </a:solidFill>
                <a:latin typeface="Inter"/>
              </a:rPr>
              <a:t>Wasser wird</a:t>
            </a:r>
          </a:p>
          <a:p>
            <a:pPr algn="ctr">
              <a:lnSpc>
                <a:spcPts val="1800"/>
              </a:lnSpc>
            </a:pPr>
            <a:r>
              <a:rPr lang="de-DE" sz="1400" dirty="0">
                <a:solidFill>
                  <a:srgbClr val="64748B"/>
                </a:solidFill>
                <a:latin typeface="Inter"/>
              </a:rPr>
              <a:t>verschwendet</a:t>
            </a:r>
          </a:p>
        </p:txBody>
      </p:sp>
      <p:sp>
        <p:nvSpPr>
          <p:cNvPr id="22" name="Stat2"/>
          <p:cNvSpPr txBox="1"/>
          <p:nvPr/>
        </p:nvSpPr>
        <p:spPr>
          <a:xfrm>
            <a:off x="5943600" y="2667000"/>
            <a:ext cx="2560320" cy="2540000"/>
          </a:xfrm>
          <a:prstGeom prst="roundRect">
            <a:avLst>
              <a:gd name="adj" fmla="val 16000"/>
            </a:avLst>
          </a:prstGeom>
          <a:solidFill>
            <a:srgbClr val="F0FDF4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spcAft>
                <a:spcPts val="600"/>
              </a:spcAft>
            </a:pPr>
            <a:r>
              <a:rPr lang="de-DE" sz="3600" b="1" dirty="0">
                <a:solidFill>
                  <a:srgbClr val="22C55E"/>
                </a:solidFill>
                <a:latin typeface="Montserrat"/>
              </a:rPr>
              <a:t>$3.9B</a:t>
            </a:r>
          </a:p>
          <a:p>
            <a:pPr algn="ctr">
              <a:lnSpc>
                <a:spcPts val="1800"/>
              </a:lnSpc>
            </a:pPr>
            <a:r>
              <a:rPr lang="de-DE" sz="1400" dirty="0">
                <a:solidFill>
                  <a:srgbClr val="64748B"/>
                </a:solidFill>
                <a:latin typeface="Inter"/>
              </a:rPr>
              <a:t>Smart Irrigation</a:t>
            </a:r>
          </a:p>
          <a:p>
            <a:pPr algn="ctr">
              <a:lnSpc>
                <a:spcPts val="1800"/>
              </a:lnSpc>
            </a:pPr>
            <a:r>
              <a:rPr lang="de-DE" sz="1400" dirty="0">
                <a:solidFill>
                  <a:srgbClr val="64748B"/>
                </a:solidFill>
                <a:latin typeface="Inter"/>
              </a:rPr>
              <a:t>Markt 2030</a:t>
            </a:r>
          </a:p>
        </p:txBody>
      </p:sp>
      <p:sp>
        <p:nvSpPr>
          <p:cNvPr id="23" name="Stat3"/>
          <p:cNvSpPr txBox="1"/>
          <p:nvPr/>
        </p:nvSpPr>
        <p:spPr>
          <a:xfrm>
            <a:off x="8686800" y="2667000"/>
            <a:ext cx="2560320" cy="2540000"/>
          </a:xfrm>
          <a:prstGeom prst="roundRect">
            <a:avLst>
              <a:gd name="adj" fmla="val 16000"/>
            </a:avLst>
          </a:prstGeom>
          <a:solidFill>
            <a:srgbClr val="F0FDF4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spcAft>
                <a:spcPts val="600"/>
              </a:spcAft>
            </a:pPr>
            <a:r>
              <a:rPr lang="de-DE" sz="3600" b="1" dirty="0">
                <a:solidFill>
                  <a:srgbClr val="22C55E"/>
                </a:solidFill>
                <a:latin typeface="Montserrat"/>
              </a:rPr>
              <a:t>12.4%</a:t>
            </a:r>
          </a:p>
          <a:p>
            <a:pPr algn="ctr">
              <a:lnSpc>
                <a:spcPts val="1800"/>
              </a:lnSpc>
            </a:pPr>
            <a:r>
              <a:rPr lang="de-DE" sz="1400" dirty="0">
                <a:solidFill>
                  <a:srgbClr val="64748B"/>
                </a:solidFill>
                <a:latin typeface="Inter"/>
              </a:rPr>
              <a:t>CAGR</a:t>
            </a:r>
          </a:p>
          <a:p>
            <a:pPr algn="ctr">
              <a:lnSpc>
                <a:spcPts val="1800"/>
              </a:lnSpc>
            </a:pPr>
            <a:r>
              <a:rPr lang="de-DE" sz="1400" dirty="0">
                <a:solidFill>
                  <a:srgbClr val="64748B"/>
                </a:solidFill>
                <a:latin typeface="Inter"/>
              </a:rPr>
              <a:t>jährliches Wachstum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22BEC0F8-CC55-4F32-1FEB-EA59451F17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8937" y="360218"/>
            <a:ext cx="2306782" cy="2306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3510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Label"/>
          <p:cNvSpPr txBox="1"/>
          <p:nvPr/>
        </p:nvSpPr>
        <p:spPr>
          <a:xfrm>
            <a:off x="457200" y="457200"/>
            <a:ext cx="2743200" cy="320040"/>
          </a:xfrm>
          <a:prstGeom prst="roundRect">
            <a:avLst>
              <a:gd name="adj" fmla="val 16000"/>
            </a:avLst>
          </a:prstGeom>
          <a:solidFill>
            <a:srgbClr val="22C55E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de-DE" sz="1600" b="1" dirty="0">
                <a:solidFill>
                  <a:schemeClr val="tx2">
                    <a:lumMod val="50000"/>
                  </a:schemeClr>
                </a:solidFill>
                <a:latin typeface="Inter"/>
              </a:rPr>
              <a:t>Die Lösung</a:t>
            </a:r>
          </a:p>
        </p:txBody>
      </p:sp>
      <p:sp>
        <p:nvSpPr>
          <p:cNvPr id="12" name="Title"/>
          <p:cNvSpPr txBox="1"/>
          <p:nvPr/>
        </p:nvSpPr>
        <p:spPr>
          <a:xfrm>
            <a:off x="457200" y="91440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de-DE" sz="2800" b="1" dirty="0">
                <a:solidFill>
                  <a:srgbClr val="1E293B"/>
                </a:solidFill>
                <a:latin typeface="Montserrat"/>
              </a:rPr>
              <a:t>HappyPlant</a:t>
            </a:r>
          </a:p>
          <a:p>
            <a:pPr algn="l"/>
            <a:r>
              <a:rPr lang="de-DE" sz="1600" dirty="0">
                <a:solidFill>
                  <a:srgbClr val="64748B"/>
                </a:solidFill>
                <a:latin typeface="Inter"/>
              </a:rPr>
              <a:t>KI-gestütztes Bewässerungs- &amp; Pflanzenmonitoring für urbane Grünflächen.</a:t>
            </a:r>
          </a:p>
        </p:txBody>
      </p:sp>
      <p:sp>
        <p:nvSpPr>
          <p:cNvPr id="20" name="Card0"/>
          <p:cNvSpPr txBox="1"/>
          <p:nvPr/>
        </p:nvSpPr>
        <p:spPr>
          <a:xfrm>
            <a:off x="457200" y="1920240"/>
            <a:ext cx="5120640" cy="114300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l">
              <a:spcAft>
                <a:spcPts val="200"/>
              </a:spcAft>
            </a:pPr>
            <a:r>
              <a:rPr lang="de-DE" sz="1800" b="1" dirty="0">
                <a:solidFill>
                  <a:srgbClr val="1E293B"/>
                </a:solidFill>
                <a:latin typeface="Montserrat"/>
              </a:rPr>
              <a:t>Echtzeit-Sensoren</a:t>
            </a:r>
          </a:p>
          <a:p>
            <a:pPr algn="l"/>
            <a:r>
              <a:rPr lang="de-DE" sz="1400" dirty="0">
                <a:solidFill>
                  <a:srgbClr val="64748B"/>
                </a:solidFill>
                <a:latin typeface="Inter"/>
              </a:rPr>
              <a:t>Boden, Luft, Temperatur – pro Zone</a:t>
            </a:r>
          </a:p>
        </p:txBody>
      </p:sp>
      <p:sp>
        <p:nvSpPr>
          <p:cNvPr id="21" name="Card1"/>
          <p:cNvSpPr txBox="1"/>
          <p:nvPr/>
        </p:nvSpPr>
        <p:spPr>
          <a:xfrm>
            <a:off x="5943600" y="1920240"/>
            <a:ext cx="5120640" cy="114300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l">
              <a:spcAft>
                <a:spcPts val="200"/>
              </a:spcAft>
            </a:pPr>
            <a:r>
              <a:rPr lang="de-DE" sz="1800" b="1" dirty="0">
                <a:solidFill>
                  <a:srgbClr val="1E293B"/>
                </a:solidFill>
                <a:latin typeface="Montserrat"/>
              </a:rPr>
              <a:t>KI-Steuerung</a:t>
            </a:r>
          </a:p>
          <a:p>
            <a:pPr algn="l"/>
            <a:r>
              <a:rPr lang="de-DE" sz="1400" dirty="0">
                <a:solidFill>
                  <a:srgbClr val="64748B"/>
                </a:solidFill>
                <a:latin typeface="Inter"/>
              </a:rPr>
              <a:t>Wann, wie viel, ob bewässert wird</a:t>
            </a:r>
          </a:p>
        </p:txBody>
      </p:sp>
      <p:sp>
        <p:nvSpPr>
          <p:cNvPr id="22" name="Card2"/>
          <p:cNvSpPr txBox="1"/>
          <p:nvPr/>
        </p:nvSpPr>
        <p:spPr>
          <a:xfrm>
            <a:off x="457200" y="3749040"/>
            <a:ext cx="5120640" cy="114300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l">
              <a:spcAft>
                <a:spcPts val="200"/>
              </a:spcAft>
            </a:pPr>
            <a:r>
              <a:rPr lang="de-DE" b="1" dirty="0">
                <a:solidFill>
                  <a:srgbClr val="1E293B"/>
                </a:solidFill>
                <a:latin typeface="Montserrat"/>
              </a:rPr>
              <a:t>KI Agent</a:t>
            </a:r>
            <a:endParaRPr lang="de-DE" sz="1800" b="1" dirty="0">
              <a:solidFill>
                <a:srgbClr val="1E293B"/>
              </a:solidFill>
              <a:latin typeface="Montserrat"/>
            </a:endParaRPr>
          </a:p>
          <a:p>
            <a:pPr algn="l"/>
            <a:r>
              <a:rPr lang="de-DE" sz="1400" dirty="0">
                <a:solidFill>
                  <a:srgbClr val="64748B"/>
                </a:solidFill>
                <a:latin typeface="Inter"/>
              </a:rPr>
              <a:t>Natürlichsprachiges Interface für Stadtgärtner</a:t>
            </a:r>
          </a:p>
        </p:txBody>
      </p:sp>
      <p:sp>
        <p:nvSpPr>
          <p:cNvPr id="23" name="Card3"/>
          <p:cNvSpPr txBox="1"/>
          <p:nvPr/>
        </p:nvSpPr>
        <p:spPr>
          <a:xfrm>
            <a:off x="5756564" y="3685540"/>
            <a:ext cx="5120640" cy="114300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l">
              <a:spcAft>
                <a:spcPts val="200"/>
              </a:spcAft>
            </a:pPr>
            <a:r>
              <a:rPr lang="de-DE" sz="1800" b="1" dirty="0">
                <a:solidFill>
                  <a:srgbClr val="1E293B"/>
                </a:solidFill>
                <a:latin typeface="Montserrat"/>
              </a:rPr>
              <a:t>Impact Dashboard</a:t>
            </a:r>
          </a:p>
          <a:p>
            <a:pPr algn="l"/>
            <a:r>
              <a:rPr lang="de-DE" sz="1400" dirty="0">
                <a:solidFill>
                  <a:srgbClr val="64748B"/>
                </a:solidFill>
                <a:latin typeface="Inter"/>
              </a:rPr>
              <a:t>Wasser, CO₂, Pflanzengesundheit in Echtzeit</a:t>
            </a:r>
          </a:p>
        </p:txBody>
      </p:sp>
      <p:sp>
        <p:nvSpPr>
          <p:cNvPr id="40" name="Flow0"/>
          <p:cNvSpPr txBox="1"/>
          <p:nvPr/>
        </p:nvSpPr>
        <p:spPr>
          <a:xfrm>
            <a:off x="457200" y="5080000"/>
            <a:ext cx="3302000" cy="640080"/>
          </a:xfrm>
          <a:prstGeom prst="roundRect">
            <a:avLst>
              <a:gd name="adj" fmla="val 16000"/>
            </a:avLst>
          </a:prstGeom>
          <a:solidFill>
            <a:srgbClr val="F0FDF4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de-DE" sz="1400" b="1" dirty="0">
                <a:solidFill>
                  <a:srgbClr val="22C55E"/>
                </a:solidFill>
                <a:latin typeface="Montserrat"/>
              </a:rPr>
              <a:t>Sensoren</a:t>
            </a:r>
          </a:p>
        </p:txBody>
      </p:sp>
      <p:sp>
        <p:nvSpPr>
          <p:cNvPr id="50" name="Arrow0"/>
          <p:cNvSpPr txBox="1"/>
          <p:nvPr/>
        </p:nvSpPr>
        <p:spPr>
          <a:xfrm>
            <a:off x="3759200" y="3937000"/>
            <a:ext cx="457200" cy="6400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endParaRPr lang="de-DE" sz="2000" dirty="0">
              <a:solidFill>
                <a:srgbClr val="94A3B8"/>
              </a:solidFill>
              <a:latin typeface="Inter"/>
            </a:endParaRPr>
          </a:p>
        </p:txBody>
      </p:sp>
      <p:sp>
        <p:nvSpPr>
          <p:cNvPr id="41" name="Flow1"/>
          <p:cNvSpPr txBox="1"/>
          <p:nvPr/>
        </p:nvSpPr>
        <p:spPr>
          <a:xfrm>
            <a:off x="4016202" y="5080000"/>
            <a:ext cx="3302000" cy="640080"/>
          </a:xfrm>
          <a:prstGeom prst="roundRect">
            <a:avLst>
              <a:gd name="adj" fmla="val 16000"/>
            </a:avLst>
          </a:prstGeom>
          <a:solidFill>
            <a:srgbClr val="F0FDF4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de-DE" sz="1400" b="1" dirty="0">
                <a:solidFill>
                  <a:srgbClr val="22C55E"/>
                </a:solidFill>
                <a:latin typeface="Montserrat"/>
              </a:rPr>
              <a:t>Cloud + AI</a:t>
            </a:r>
          </a:p>
        </p:txBody>
      </p:sp>
      <p:sp>
        <p:nvSpPr>
          <p:cNvPr id="51" name="Arrow1"/>
          <p:cNvSpPr txBox="1"/>
          <p:nvPr/>
        </p:nvSpPr>
        <p:spPr>
          <a:xfrm>
            <a:off x="7518400" y="3937000"/>
            <a:ext cx="457200" cy="6400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endParaRPr lang="de-DE" sz="2000" dirty="0">
              <a:solidFill>
                <a:srgbClr val="94A3B8"/>
              </a:solidFill>
              <a:latin typeface="Inter"/>
            </a:endParaRPr>
          </a:p>
        </p:txBody>
      </p:sp>
      <p:sp>
        <p:nvSpPr>
          <p:cNvPr id="42" name="Flow2"/>
          <p:cNvSpPr txBox="1"/>
          <p:nvPr/>
        </p:nvSpPr>
        <p:spPr>
          <a:xfrm>
            <a:off x="7575204" y="5080000"/>
            <a:ext cx="3302000" cy="640080"/>
          </a:xfrm>
          <a:prstGeom prst="roundRect">
            <a:avLst>
              <a:gd name="adj" fmla="val 16000"/>
            </a:avLst>
          </a:prstGeom>
          <a:solidFill>
            <a:srgbClr val="F0FDF4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de-DE" sz="1400" b="1" dirty="0">
                <a:solidFill>
                  <a:srgbClr val="22C55E"/>
                </a:solidFill>
                <a:latin typeface="Montserrat"/>
              </a:rPr>
              <a:t>Steuerung</a:t>
            </a:r>
          </a:p>
        </p:txBody>
      </p:sp>
    </p:spTree>
    <p:extLst>
      <p:ext uri="{BB962C8B-B14F-4D97-AF65-F5344CB8AC3E}">
        <p14:creationId xmlns:p14="http://schemas.microsoft.com/office/powerpoint/2010/main" val="3056768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ag"/>
          <p:cNvSpPr txBox="1"/>
          <p:nvPr/>
        </p:nvSpPr>
        <p:spPr>
          <a:xfrm>
            <a:off x="10287000" y="182880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 anchor="t"/>
          <a:lstStyle/>
          <a:p>
            <a:pPr algn="r"/>
            <a:endParaRPr lang="de-DE" sz="900" dirty="0">
              <a:solidFill>
                <a:srgbClr val="94A3B8"/>
              </a:solidFill>
              <a:latin typeface="Inter"/>
            </a:endParaRPr>
          </a:p>
        </p:txBody>
      </p:sp>
      <p:sp>
        <p:nvSpPr>
          <p:cNvPr id="11" name="Label"/>
          <p:cNvSpPr txBox="1"/>
          <p:nvPr/>
        </p:nvSpPr>
        <p:spPr>
          <a:xfrm>
            <a:off x="457200" y="457200"/>
            <a:ext cx="3200400" cy="320040"/>
          </a:xfrm>
          <a:prstGeom prst="roundRect">
            <a:avLst>
              <a:gd name="adj" fmla="val 8000"/>
            </a:avLst>
          </a:prstGeom>
          <a:solidFill>
            <a:srgbClr val="22C55E"/>
          </a:solidFill>
          <a:ln>
            <a:noFill/>
          </a:ln>
        </p:spPr>
        <p:txBody>
          <a:bodyPr wrap="square" lIns="137160" tIns="91440" rIns="137160" bIns="91440" anchor="ctr"/>
          <a:lstStyle/>
          <a:p>
            <a:pPr algn="l"/>
            <a:r>
              <a:rPr lang="de-DE" sz="1100" b="1" dirty="0">
                <a:solidFill>
                  <a:srgbClr val="FFFFFF"/>
                </a:solidFill>
                <a:latin typeface="Inter"/>
              </a:rPr>
              <a:t>BUSINESS MODEL</a:t>
            </a:r>
          </a:p>
        </p:txBody>
      </p:sp>
      <p:sp>
        <p:nvSpPr>
          <p:cNvPr id="12" name="Title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 anchor="t"/>
          <a:lstStyle/>
          <a:p>
            <a:pPr algn="l"/>
            <a:r>
              <a:rPr lang="de-DE" sz="2800" b="1" dirty="0">
                <a:solidFill>
                  <a:srgbClr val="1E293B"/>
                </a:solidFill>
                <a:latin typeface="Montserrat"/>
              </a:rPr>
              <a:t>Systemverkauf an Unternehmen &amp; Regierungen</a:t>
            </a:r>
          </a:p>
        </p:txBody>
      </p:sp>
      <p:sp>
        <p:nvSpPr>
          <p:cNvPr id="20" name="B2B"/>
          <p:cNvSpPr txBox="1"/>
          <p:nvPr/>
        </p:nvSpPr>
        <p:spPr>
          <a:xfrm>
            <a:off x="457200" y="1554480"/>
            <a:ext cx="5303520" cy="2286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</p:spPr>
        <p:txBody>
          <a:bodyPr wrap="square" lIns="137160" tIns="91440" rIns="137160" bIns="91440" anchor="t"/>
          <a:lstStyle/>
          <a:p>
            <a:pPr algn="l">
              <a:spcAft>
                <a:spcPts val="100"/>
              </a:spcAft>
            </a:pPr>
            <a:r>
              <a:rPr lang="de-DE" sz="1100" b="1" dirty="0">
                <a:solidFill>
                  <a:srgbClr val="22C55E"/>
                </a:solidFill>
                <a:latin typeface="Inter"/>
              </a:rPr>
              <a:t>B2B</a:t>
            </a:r>
          </a:p>
          <a:p>
            <a:pPr algn="l">
              <a:spcAft>
                <a:spcPts val="500"/>
              </a:spcAft>
            </a:pPr>
            <a:r>
              <a:rPr lang="de-DE" sz="2000" b="1" dirty="0">
                <a:solidFill>
                  <a:srgbClr val="1E293B"/>
                </a:solidFill>
                <a:latin typeface="Montserrat"/>
              </a:rPr>
              <a:t>Unternehmen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de-DE" sz="1400" dirty="0">
                <a:solidFill>
                  <a:srgbClr val="475569"/>
                </a:solidFill>
                <a:latin typeface="Inter"/>
              </a:rPr>
              <a:t>Facility Management &amp; Immobilien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de-DE" sz="1400" dirty="0">
                <a:solidFill>
                  <a:srgbClr val="475569"/>
                </a:solidFill>
                <a:latin typeface="Inter"/>
              </a:rPr>
              <a:t>Campusbegrünung, Gewerbegebiete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de-DE" sz="1400" dirty="0">
                <a:solidFill>
                  <a:srgbClr val="475569"/>
                </a:solidFill>
                <a:latin typeface="Inter"/>
              </a:rPr>
              <a:t>Komplettsystem: Hardware + Software + Setup</a:t>
            </a:r>
          </a:p>
        </p:txBody>
      </p:sp>
      <p:sp>
        <p:nvSpPr>
          <p:cNvPr id="21" name="B2G"/>
          <p:cNvSpPr txBox="1"/>
          <p:nvPr/>
        </p:nvSpPr>
        <p:spPr>
          <a:xfrm>
            <a:off x="6217920" y="1554480"/>
            <a:ext cx="5303520" cy="22860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</p:spPr>
        <p:txBody>
          <a:bodyPr wrap="square" lIns="137160" tIns="91440" rIns="137160" bIns="91440" anchor="t"/>
          <a:lstStyle/>
          <a:p>
            <a:pPr algn="l">
              <a:spcAft>
                <a:spcPts val="100"/>
              </a:spcAft>
            </a:pPr>
            <a:r>
              <a:rPr lang="de-DE" sz="1100" b="1" dirty="0">
                <a:solidFill>
                  <a:srgbClr val="22C55E"/>
                </a:solidFill>
                <a:latin typeface="Inter"/>
              </a:rPr>
              <a:t>B2G</a:t>
            </a:r>
          </a:p>
          <a:p>
            <a:pPr algn="l">
              <a:spcAft>
                <a:spcPts val="500"/>
              </a:spcAft>
            </a:pPr>
            <a:r>
              <a:rPr lang="de-DE" sz="2000" b="1" dirty="0">
                <a:solidFill>
                  <a:srgbClr val="1E293B"/>
                </a:solidFill>
                <a:latin typeface="Montserrat"/>
              </a:rPr>
              <a:t>Kommunen &amp; Regierungen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de-DE" sz="1400" dirty="0">
                <a:solidFill>
                  <a:srgbClr val="475569"/>
                </a:solidFill>
                <a:latin typeface="Inter"/>
              </a:rPr>
              <a:t>Stadtgärtnereien &amp; Grünflächenämter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de-DE" sz="1400" dirty="0">
                <a:solidFill>
                  <a:srgbClr val="475569"/>
                </a:solidFill>
                <a:latin typeface="Inter"/>
              </a:rPr>
              <a:t>Parks, Straßenbegrünung, öffentliche Plätze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de-DE" sz="1400" dirty="0">
                <a:solidFill>
                  <a:srgbClr val="475569"/>
                </a:solidFill>
                <a:latin typeface="Inter"/>
              </a:rPr>
              <a:t>Beschaffung über Ausschreibungen &amp; Förderprogramme</a:t>
            </a:r>
          </a:p>
        </p:txBody>
      </p:sp>
      <p:sp>
        <p:nvSpPr>
          <p:cNvPr id="30" name="Rev0"/>
          <p:cNvSpPr txBox="1"/>
          <p:nvPr/>
        </p:nvSpPr>
        <p:spPr>
          <a:xfrm>
            <a:off x="457200" y="4191000"/>
            <a:ext cx="3383280" cy="192024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>
            <a:noFill/>
          </a:ln>
        </p:spPr>
        <p:txBody>
          <a:bodyPr wrap="square" lIns="137160" tIns="91440" rIns="137160" bIns="91440" anchor="ctr"/>
          <a:lstStyle/>
          <a:p>
            <a:pPr algn="ctr">
              <a:spcAft>
                <a:spcPts val="300"/>
              </a:spcAft>
            </a:pPr>
            <a:r>
              <a:rPr lang="de-DE" sz="1800" b="1" dirty="0">
                <a:solidFill>
                  <a:srgbClr val="22C55E"/>
                </a:solidFill>
                <a:latin typeface="Montserrat"/>
              </a:rPr>
              <a:t>Systemverkauf</a:t>
            </a:r>
          </a:p>
          <a:p>
            <a:pPr algn="ctr">
              <a:spcAft>
                <a:spcPts val="200"/>
              </a:spcAft>
            </a:pPr>
            <a:r>
              <a:rPr lang="de-DE" sz="1400" b="1" dirty="0">
                <a:solidFill>
                  <a:srgbClr val="1E293B"/>
                </a:solidFill>
                <a:latin typeface="Inter"/>
              </a:rPr>
              <a:t>Hardware + Software</a:t>
            </a:r>
          </a:p>
          <a:p>
            <a:pPr algn="ctr">
              <a:lnSpc>
                <a:spcPts val="1800"/>
              </a:lnSpc>
            </a:pPr>
            <a:r>
              <a:rPr lang="de-DE" sz="1200" dirty="0">
                <a:solidFill>
                  <a:srgbClr val="64748B"/>
                </a:solidFill>
                <a:latin typeface="Inter"/>
              </a:rPr>
              <a:t>Sensor-Kit, KI-Plattform,</a:t>
            </a:r>
          </a:p>
          <a:p>
            <a:pPr algn="ctr">
              <a:lnSpc>
                <a:spcPts val="1800"/>
              </a:lnSpc>
            </a:pPr>
            <a:r>
              <a:rPr lang="de-DE" sz="1200" dirty="0">
                <a:solidFill>
                  <a:srgbClr val="64748B"/>
                </a:solidFill>
                <a:latin typeface="Inter"/>
              </a:rPr>
              <a:t>Installation pro Zone</a:t>
            </a:r>
          </a:p>
        </p:txBody>
      </p:sp>
      <p:sp>
        <p:nvSpPr>
          <p:cNvPr id="31" name="Rev1"/>
          <p:cNvSpPr txBox="1"/>
          <p:nvPr/>
        </p:nvSpPr>
        <p:spPr>
          <a:xfrm>
            <a:off x="4114800" y="4191000"/>
            <a:ext cx="3383280" cy="192024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>
            <a:noFill/>
          </a:ln>
        </p:spPr>
        <p:txBody>
          <a:bodyPr wrap="square" lIns="137160" tIns="91440" rIns="137160" bIns="91440" anchor="ctr"/>
          <a:lstStyle/>
          <a:p>
            <a:pPr algn="ctr">
              <a:spcAft>
                <a:spcPts val="300"/>
              </a:spcAft>
            </a:pPr>
            <a:r>
              <a:rPr lang="de-DE" sz="1800" b="1" dirty="0">
                <a:solidFill>
                  <a:srgbClr val="22C55E"/>
                </a:solidFill>
                <a:latin typeface="Montserrat"/>
              </a:rPr>
              <a:t>Service-Vertrag</a:t>
            </a:r>
          </a:p>
          <a:p>
            <a:pPr algn="ctr">
              <a:spcAft>
                <a:spcPts val="200"/>
              </a:spcAft>
            </a:pPr>
            <a:r>
              <a:rPr lang="de-DE" sz="1400" b="1" dirty="0">
                <a:solidFill>
                  <a:srgbClr val="1E293B"/>
                </a:solidFill>
                <a:latin typeface="Inter"/>
              </a:rPr>
              <a:t>Wartung + Updates</a:t>
            </a:r>
          </a:p>
          <a:p>
            <a:pPr algn="ctr">
              <a:lnSpc>
                <a:spcPts val="1800"/>
              </a:lnSpc>
            </a:pPr>
            <a:r>
              <a:rPr lang="de-DE" sz="1200" dirty="0">
                <a:solidFill>
                  <a:srgbClr val="64748B"/>
                </a:solidFill>
                <a:latin typeface="Inter"/>
              </a:rPr>
              <a:t>Laufender Support,</a:t>
            </a:r>
          </a:p>
          <a:p>
            <a:pPr algn="ctr">
              <a:lnSpc>
                <a:spcPts val="1800"/>
              </a:lnSpc>
            </a:pPr>
            <a:r>
              <a:rPr lang="de-DE" sz="1200" dirty="0">
                <a:solidFill>
                  <a:srgbClr val="64748B"/>
                </a:solidFill>
                <a:latin typeface="Inter"/>
              </a:rPr>
              <a:t>AI-Modell-Updates, Monitoring</a:t>
            </a:r>
          </a:p>
        </p:txBody>
      </p:sp>
      <p:sp>
        <p:nvSpPr>
          <p:cNvPr id="32" name="Rev2"/>
          <p:cNvSpPr txBox="1"/>
          <p:nvPr/>
        </p:nvSpPr>
        <p:spPr>
          <a:xfrm>
            <a:off x="7772400" y="4191000"/>
            <a:ext cx="3383280" cy="192024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>
            <a:noFill/>
          </a:ln>
        </p:spPr>
        <p:txBody>
          <a:bodyPr wrap="square" lIns="137160" tIns="91440" rIns="137160" bIns="91440" anchor="ctr"/>
          <a:lstStyle/>
          <a:p>
            <a:pPr algn="ctr">
              <a:spcAft>
                <a:spcPts val="300"/>
              </a:spcAft>
            </a:pPr>
            <a:r>
              <a:rPr lang="de-DE" sz="1800" b="1" dirty="0">
                <a:solidFill>
                  <a:srgbClr val="22C55E"/>
                </a:solidFill>
                <a:latin typeface="Montserrat"/>
              </a:rPr>
              <a:t>Daten-Reports</a:t>
            </a:r>
          </a:p>
          <a:p>
            <a:pPr algn="ctr">
              <a:spcAft>
                <a:spcPts val="200"/>
              </a:spcAft>
            </a:pPr>
            <a:r>
              <a:rPr lang="de-DE" sz="1400" b="1" dirty="0">
                <a:solidFill>
                  <a:srgbClr val="1E293B"/>
                </a:solidFill>
                <a:latin typeface="Inter"/>
              </a:rPr>
              <a:t>Klima- &amp; Wasserberichte</a:t>
            </a:r>
          </a:p>
          <a:p>
            <a:pPr algn="ctr">
              <a:lnSpc>
                <a:spcPts val="1800"/>
              </a:lnSpc>
            </a:pPr>
            <a:r>
              <a:rPr lang="de-DE" sz="1200" dirty="0">
                <a:solidFill>
                  <a:srgbClr val="64748B"/>
                </a:solidFill>
                <a:latin typeface="Inter"/>
              </a:rPr>
              <a:t>CO₂-Einsparung, Benchmarks,</a:t>
            </a:r>
          </a:p>
          <a:p>
            <a:pPr algn="ctr">
              <a:lnSpc>
                <a:spcPts val="1800"/>
              </a:lnSpc>
            </a:pPr>
            <a:r>
              <a:rPr lang="de-DE" sz="1200" dirty="0">
                <a:solidFill>
                  <a:srgbClr val="64748B"/>
                </a:solidFill>
                <a:latin typeface="Inter"/>
              </a:rPr>
              <a:t>kommunale Nachweise</a:t>
            </a:r>
          </a:p>
        </p:txBody>
      </p:sp>
    </p:spTree>
    <p:extLst>
      <p:ext uri="{BB962C8B-B14F-4D97-AF65-F5344CB8AC3E}">
        <p14:creationId xmlns:p14="http://schemas.microsoft.com/office/powerpoint/2010/main" val="1938750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ag"/>
          <p:cNvSpPr txBox="1"/>
          <p:nvPr/>
        </p:nvSpPr>
        <p:spPr>
          <a:xfrm>
            <a:off x="10287000" y="182880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r"/>
            <a:endParaRPr lang="de-DE" sz="900" dirty="0">
              <a:solidFill>
                <a:srgbClr val="94A3B8"/>
              </a:solidFill>
              <a:latin typeface="Inter"/>
            </a:endParaRPr>
          </a:p>
        </p:txBody>
      </p:sp>
      <p:sp>
        <p:nvSpPr>
          <p:cNvPr id="11" name="Label"/>
          <p:cNvSpPr txBox="1"/>
          <p:nvPr/>
        </p:nvSpPr>
        <p:spPr>
          <a:xfrm>
            <a:off x="457200" y="457200"/>
            <a:ext cx="3200400" cy="320040"/>
          </a:xfrm>
          <a:prstGeom prst="roundRect">
            <a:avLst>
              <a:gd name="adj" fmla="val 16000"/>
            </a:avLst>
          </a:prstGeom>
          <a:solidFill>
            <a:srgbClr val="22C55E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de-DE" sz="1600" b="1" dirty="0">
                <a:solidFill>
                  <a:schemeClr val="bg2">
                    <a:lumMod val="10000"/>
                  </a:schemeClr>
                </a:solidFill>
                <a:latin typeface="Inter"/>
              </a:rPr>
              <a:t>Go </a:t>
            </a:r>
            <a:r>
              <a:rPr lang="de-DE" sz="1600" b="1" dirty="0" err="1">
                <a:solidFill>
                  <a:schemeClr val="bg2">
                    <a:lumMod val="10000"/>
                  </a:schemeClr>
                </a:solidFill>
                <a:latin typeface="Inter"/>
              </a:rPr>
              <a:t>to</a:t>
            </a:r>
            <a:r>
              <a:rPr lang="de-DE" sz="1600" b="1" dirty="0">
                <a:solidFill>
                  <a:schemeClr val="bg2">
                    <a:lumMod val="10000"/>
                  </a:schemeClr>
                </a:solidFill>
                <a:latin typeface="Inter"/>
              </a:rPr>
              <a:t> Market</a:t>
            </a:r>
          </a:p>
        </p:txBody>
      </p:sp>
      <p:sp>
        <p:nvSpPr>
          <p:cNvPr id="12" name="Title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r>
              <a:rPr lang="de-DE" sz="2800" b="1" dirty="0">
                <a:solidFill>
                  <a:srgbClr val="1E293B"/>
                </a:solidFill>
                <a:latin typeface="Montserrat"/>
              </a:rPr>
              <a:t>Pilotprojekte → Kommunale Beschaffung → Europa</a:t>
            </a:r>
          </a:p>
        </p:txBody>
      </p:sp>
      <p:sp>
        <p:nvSpPr>
          <p:cNvPr id="13" name="Bar"/>
          <p:cNvSpPr txBox="1"/>
          <p:nvPr/>
        </p:nvSpPr>
        <p:spPr>
          <a:xfrm>
            <a:off x="457200" y="2194560"/>
            <a:ext cx="11277600" cy="54864"/>
          </a:xfrm>
          <a:prstGeom prst="roundRect">
            <a:avLst>
              <a:gd name="adj" fmla="val 16000"/>
            </a:avLst>
          </a:prstGeom>
          <a:solidFill>
            <a:srgbClr val="E2E8F0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endParaRPr lang="de-DE"/>
          </a:p>
        </p:txBody>
      </p:sp>
      <p:sp>
        <p:nvSpPr>
          <p:cNvPr id="20" name="Circ0"/>
          <p:cNvSpPr/>
          <p:nvPr/>
        </p:nvSpPr>
        <p:spPr>
          <a:xfrm>
            <a:off x="1645920" y="2039112"/>
            <a:ext cx="365760" cy="36576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de-DE" sz="1600" b="1" dirty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21" name="Circ1"/>
          <p:cNvSpPr/>
          <p:nvPr/>
        </p:nvSpPr>
        <p:spPr>
          <a:xfrm>
            <a:off x="5343698" y="2039112"/>
            <a:ext cx="365760" cy="36576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de-DE" sz="1600" b="1" dirty="0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22" name="Circ2"/>
          <p:cNvSpPr/>
          <p:nvPr/>
        </p:nvSpPr>
        <p:spPr>
          <a:xfrm>
            <a:off x="9098280" y="2066544"/>
            <a:ext cx="365760" cy="36576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de-DE" sz="1600" b="1" dirty="0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30" name="PLabel0"/>
          <p:cNvSpPr txBox="1"/>
          <p:nvPr/>
        </p:nvSpPr>
        <p:spPr>
          <a:xfrm>
            <a:off x="681644" y="1682496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de-DE" sz="1100" b="1" dirty="0">
                <a:solidFill>
                  <a:srgbClr val="22C55E"/>
                </a:solidFill>
                <a:latin typeface="Inter"/>
              </a:rPr>
              <a:t>JETZT</a:t>
            </a:r>
          </a:p>
        </p:txBody>
      </p:sp>
      <p:sp>
        <p:nvSpPr>
          <p:cNvPr id="31" name="PLabel1"/>
          <p:cNvSpPr txBox="1"/>
          <p:nvPr/>
        </p:nvSpPr>
        <p:spPr>
          <a:xfrm>
            <a:off x="4383578" y="1609344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de-DE" sz="1100" b="1" dirty="0">
                <a:solidFill>
                  <a:srgbClr val="22C55E"/>
                </a:solidFill>
                <a:latin typeface="Inter"/>
              </a:rPr>
              <a:t>6–12 MONATE</a:t>
            </a:r>
          </a:p>
        </p:txBody>
      </p:sp>
      <p:sp>
        <p:nvSpPr>
          <p:cNvPr id="32" name="PLabel2"/>
          <p:cNvSpPr txBox="1"/>
          <p:nvPr/>
        </p:nvSpPr>
        <p:spPr>
          <a:xfrm>
            <a:off x="8138160" y="1636776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ctr"/>
            <a:r>
              <a:rPr lang="de-DE" sz="1100" b="1" dirty="0">
                <a:solidFill>
                  <a:srgbClr val="22C55E"/>
                </a:solidFill>
                <a:latin typeface="Inter"/>
              </a:rPr>
              <a:t>12–24 MONATE</a:t>
            </a:r>
          </a:p>
        </p:txBody>
      </p:sp>
      <p:sp>
        <p:nvSpPr>
          <p:cNvPr id="40" name="Phase0"/>
          <p:cNvSpPr txBox="1"/>
          <p:nvPr/>
        </p:nvSpPr>
        <p:spPr>
          <a:xfrm>
            <a:off x="457200" y="2743200"/>
            <a:ext cx="3383280" cy="274320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spcAft>
                <a:spcPts val="400"/>
              </a:spcAft>
            </a:pPr>
            <a:r>
              <a:rPr lang="de-DE" sz="1800" b="1" dirty="0">
                <a:solidFill>
                  <a:srgbClr val="1E293B"/>
                </a:solidFill>
                <a:latin typeface="Montserrat"/>
              </a:rPr>
              <a:t>Proof </a:t>
            </a:r>
            <a:r>
              <a:rPr lang="de-DE" sz="1800" b="1" dirty="0" err="1">
                <a:solidFill>
                  <a:srgbClr val="1E293B"/>
                </a:solidFill>
                <a:latin typeface="Montserrat"/>
              </a:rPr>
              <a:t>of</a:t>
            </a:r>
            <a:r>
              <a:rPr lang="de-DE" sz="1800" b="1" dirty="0">
                <a:solidFill>
                  <a:srgbClr val="1E293B"/>
                </a:solidFill>
                <a:latin typeface="Montserrat"/>
              </a:rPr>
              <a:t> Concept</a:t>
            </a:r>
          </a:p>
          <a:p>
            <a:pPr marL="228600" indent="-228600" algn="l">
              <a:spcAft>
                <a:spcPts val="200"/>
              </a:spcAft>
              <a:buFont typeface="Arial"/>
              <a:buChar char="•"/>
            </a:pPr>
            <a:r>
              <a:rPr lang="de-DE" sz="1400" dirty="0">
                <a:solidFill>
                  <a:srgbClr val="64748B"/>
                </a:solidFill>
                <a:latin typeface="Inter"/>
              </a:rPr>
              <a:t>2–3 Pilotstädte DACH</a:t>
            </a:r>
          </a:p>
          <a:p>
            <a:pPr marL="228600" indent="-228600" algn="l">
              <a:spcAft>
                <a:spcPts val="200"/>
              </a:spcAft>
              <a:buFont typeface="Arial"/>
              <a:buChar char="•"/>
            </a:pPr>
            <a:r>
              <a:rPr lang="de-DE" sz="1400" dirty="0">
                <a:solidFill>
                  <a:srgbClr val="64748B"/>
                </a:solidFill>
                <a:latin typeface="Inter"/>
              </a:rPr>
              <a:t>Kostenloser 3-Monats-Pilot</a:t>
            </a:r>
          </a:p>
          <a:p>
            <a:pPr marL="228600" indent="-228600" algn="l">
              <a:spcAft>
                <a:spcPts val="200"/>
              </a:spcAft>
              <a:buFont typeface="Arial"/>
              <a:buChar char="•"/>
            </a:pPr>
            <a:r>
              <a:rPr lang="de-DE" sz="1400" dirty="0">
                <a:solidFill>
                  <a:srgbClr val="64748B"/>
                </a:solidFill>
                <a:latin typeface="Inter"/>
              </a:rPr>
              <a:t>Case Studies erstellen</a:t>
            </a:r>
          </a:p>
        </p:txBody>
      </p:sp>
      <p:sp>
        <p:nvSpPr>
          <p:cNvPr id="41" name="Phase1"/>
          <p:cNvSpPr txBox="1"/>
          <p:nvPr/>
        </p:nvSpPr>
        <p:spPr>
          <a:xfrm>
            <a:off x="4114800" y="2743200"/>
            <a:ext cx="3383280" cy="274320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spcAft>
                <a:spcPts val="400"/>
              </a:spcAft>
            </a:pPr>
            <a:r>
              <a:rPr lang="de-DE" sz="1800" b="1" dirty="0">
                <a:solidFill>
                  <a:srgbClr val="1E293B"/>
                </a:solidFill>
                <a:latin typeface="Montserrat"/>
              </a:rPr>
              <a:t>Early Traction</a:t>
            </a:r>
          </a:p>
          <a:p>
            <a:pPr marL="228600" indent="-228600" algn="l">
              <a:spcAft>
                <a:spcPts val="200"/>
              </a:spcAft>
              <a:buFont typeface="Arial"/>
              <a:buChar char="•"/>
            </a:pPr>
            <a:r>
              <a:rPr lang="de-DE" sz="1400" dirty="0">
                <a:solidFill>
                  <a:srgbClr val="64748B"/>
                </a:solidFill>
                <a:latin typeface="Inter"/>
              </a:rPr>
              <a:t>Kommunale Ausschreibungen</a:t>
            </a:r>
          </a:p>
          <a:p>
            <a:pPr marL="228600" indent="-228600" algn="l">
              <a:spcAft>
                <a:spcPts val="200"/>
              </a:spcAft>
              <a:buFont typeface="Arial"/>
              <a:buChar char="•"/>
            </a:pPr>
            <a:r>
              <a:rPr lang="de-DE" sz="1400" dirty="0">
                <a:solidFill>
                  <a:srgbClr val="64748B"/>
                </a:solidFill>
                <a:latin typeface="Inter"/>
              </a:rPr>
              <a:t>Stadtwerke-Partnerschaften</a:t>
            </a:r>
          </a:p>
          <a:p>
            <a:pPr marL="228600" indent="-228600" algn="l">
              <a:spcAft>
                <a:spcPts val="200"/>
              </a:spcAft>
              <a:buFont typeface="Arial"/>
              <a:buChar char="•"/>
            </a:pPr>
            <a:r>
              <a:rPr lang="de-DE" sz="1400" dirty="0">
                <a:solidFill>
                  <a:srgbClr val="64748B"/>
                </a:solidFill>
                <a:latin typeface="Inter"/>
              </a:rPr>
              <a:t>Smart City Expo, KICK</a:t>
            </a:r>
          </a:p>
        </p:txBody>
      </p:sp>
      <p:sp>
        <p:nvSpPr>
          <p:cNvPr id="42" name="Phase2"/>
          <p:cNvSpPr txBox="1"/>
          <p:nvPr/>
        </p:nvSpPr>
        <p:spPr>
          <a:xfrm>
            <a:off x="7772400" y="2743200"/>
            <a:ext cx="3383280" cy="274320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spcAft>
                <a:spcPts val="400"/>
              </a:spcAft>
            </a:pPr>
            <a:r>
              <a:rPr lang="de-DE" sz="1800" b="1" dirty="0">
                <a:solidFill>
                  <a:srgbClr val="1E293B"/>
                </a:solidFill>
                <a:latin typeface="Montserrat"/>
              </a:rPr>
              <a:t>Skalierung</a:t>
            </a:r>
          </a:p>
          <a:p>
            <a:pPr marL="228600" indent="-228600" algn="l">
              <a:spcAft>
                <a:spcPts val="200"/>
              </a:spcAft>
              <a:buFont typeface="Arial"/>
              <a:buChar char="•"/>
            </a:pPr>
            <a:r>
              <a:rPr lang="de-DE" sz="1400" dirty="0">
                <a:solidFill>
                  <a:srgbClr val="64748B"/>
                </a:solidFill>
                <a:latin typeface="Inter"/>
              </a:rPr>
              <a:t>Expansion: ES, IT, FR</a:t>
            </a:r>
          </a:p>
          <a:p>
            <a:pPr marL="228600" indent="-228600" algn="l">
              <a:spcAft>
                <a:spcPts val="200"/>
              </a:spcAft>
              <a:buFont typeface="Arial"/>
              <a:buChar char="•"/>
            </a:pPr>
            <a:r>
              <a:rPr lang="de-DE" sz="1400" dirty="0">
                <a:solidFill>
                  <a:srgbClr val="64748B"/>
                </a:solidFill>
                <a:latin typeface="Inter"/>
              </a:rPr>
              <a:t>OEM: Gardena, Hunter</a:t>
            </a:r>
          </a:p>
          <a:p>
            <a:pPr marL="228600" indent="-228600" algn="l">
              <a:spcAft>
                <a:spcPts val="200"/>
              </a:spcAft>
              <a:buFont typeface="Arial"/>
              <a:buChar char="•"/>
            </a:pPr>
            <a:r>
              <a:rPr lang="de-DE" sz="1400" dirty="0">
                <a:solidFill>
                  <a:srgbClr val="64748B"/>
                </a:solidFill>
                <a:latin typeface="Inter"/>
              </a:rPr>
              <a:t>API-Marketplace</a:t>
            </a:r>
          </a:p>
        </p:txBody>
      </p:sp>
    </p:spTree>
    <p:extLst>
      <p:ext uri="{BB962C8B-B14F-4D97-AF65-F5344CB8AC3E}">
        <p14:creationId xmlns:p14="http://schemas.microsoft.com/office/powerpoint/2010/main" val="41405785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ag"/>
          <p:cNvSpPr txBox="1"/>
          <p:nvPr/>
        </p:nvSpPr>
        <p:spPr>
          <a:xfrm>
            <a:off x="10287000" y="182880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 anchor="t"/>
          <a:lstStyle/>
          <a:p>
            <a:pPr algn="r"/>
            <a:endParaRPr lang="de-DE" sz="900" dirty="0">
              <a:solidFill>
                <a:srgbClr val="94A3B8"/>
              </a:solidFill>
              <a:latin typeface="Inter"/>
            </a:endParaRPr>
          </a:p>
        </p:txBody>
      </p:sp>
      <p:sp>
        <p:nvSpPr>
          <p:cNvPr id="11" name="Label"/>
          <p:cNvSpPr txBox="1"/>
          <p:nvPr/>
        </p:nvSpPr>
        <p:spPr>
          <a:xfrm>
            <a:off x="457200" y="457200"/>
            <a:ext cx="3200400" cy="320040"/>
          </a:xfrm>
          <a:prstGeom prst="roundRect">
            <a:avLst>
              <a:gd name="adj" fmla="val 16000"/>
            </a:avLst>
          </a:prstGeom>
          <a:solidFill>
            <a:srgbClr val="22C55E"/>
          </a:solidFill>
          <a:ln>
            <a:noFill/>
          </a:ln>
        </p:spPr>
        <p:txBody>
          <a:bodyPr wrap="square" lIns="137160" tIns="91440" rIns="137160" bIns="91440" anchor="ctr"/>
          <a:lstStyle/>
          <a:p>
            <a:pPr algn="l"/>
            <a:r>
              <a:rPr lang="de-DE" sz="1600" b="1" dirty="0">
                <a:solidFill>
                  <a:schemeClr val="bg2">
                    <a:lumMod val="10000"/>
                  </a:schemeClr>
                </a:solidFill>
                <a:latin typeface="Inter"/>
              </a:rPr>
              <a:t>WHY NOW / WHY US</a:t>
            </a:r>
          </a:p>
        </p:txBody>
      </p:sp>
      <p:sp>
        <p:nvSpPr>
          <p:cNvPr id="20" name="WhyNow"/>
          <p:cNvSpPr txBox="1"/>
          <p:nvPr/>
        </p:nvSpPr>
        <p:spPr>
          <a:xfrm>
            <a:off x="457200" y="1097280"/>
            <a:ext cx="5303520" cy="241300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>
            <a:noFill/>
          </a:ln>
        </p:spPr>
        <p:txBody>
          <a:bodyPr wrap="square" lIns="137160" tIns="91440" rIns="137160" bIns="91440" anchor="t"/>
          <a:lstStyle/>
          <a:p>
            <a:pPr algn="l">
              <a:spcAft>
                <a:spcPts val="600"/>
              </a:spcAft>
            </a:pPr>
            <a:r>
              <a:rPr lang="de-DE" sz="2000" b="1" dirty="0">
                <a:solidFill>
                  <a:srgbClr val="1E293B"/>
                </a:solidFill>
                <a:latin typeface="Montserrat"/>
              </a:rPr>
              <a:t>Why Now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de-DE" sz="1400" dirty="0">
                <a:solidFill>
                  <a:srgbClr val="475569"/>
                </a:solidFill>
                <a:latin typeface="Inter"/>
              </a:rPr>
              <a:t>EU Green Deal zwingt Kommunen zum Handeln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de-DE" sz="1400" dirty="0">
                <a:solidFill>
                  <a:srgbClr val="475569"/>
                </a:solidFill>
                <a:latin typeface="Inter"/>
              </a:rPr>
              <a:t>Dürresommer 2022–2025 als Weckruf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de-DE" sz="1400" dirty="0">
                <a:solidFill>
                  <a:srgbClr val="475569"/>
                </a:solidFill>
                <a:latin typeface="Inter"/>
              </a:rPr>
              <a:t>IoT-Kosten –60% in 5 Jahren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de-DE" sz="1400" dirty="0">
                <a:solidFill>
                  <a:srgbClr val="475569"/>
                </a:solidFill>
                <a:latin typeface="Inter"/>
              </a:rPr>
              <a:t>AI-Agents reif für Praxiseinsatz</a:t>
            </a:r>
          </a:p>
        </p:txBody>
      </p:sp>
      <p:sp>
        <p:nvSpPr>
          <p:cNvPr id="21" name="WhyUs"/>
          <p:cNvSpPr txBox="1"/>
          <p:nvPr/>
        </p:nvSpPr>
        <p:spPr>
          <a:xfrm>
            <a:off x="6096000" y="1097280"/>
            <a:ext cx="5303520" cy="2413000"/>
          </a:xfrm>
          <a:prstGeom prst="roundRect">
            <a:avLst>
              <a:gd name="adj" fmla="val 16000"/>
            </a:avLst>
          </a:prstGeom>
          <a:solidFill>
            <a:srgbClr val="F8FAFC"/>
          </a:solidFill>
          <a:ln>
            <a:noFill/>
          </a:ln>
        </p:spPr>
        <p:txBody>
          <a:bodyPr wrap="square" lIns="137160" tIns="91440" rIns="137160" bIns="91440" anchor="t"/>
          <a:lstStyle/>
          <a:p>
            <a:pPr algn="l">
              <a:spcAft>
                <a:spcPts val="600"/>
              </a:spcAft>
            </a:pPr>
            <a:r>
              <a:rPr lang="de-DE" sz="2000" b="1" dirty="0">
                <a:solidFill>
                  <a:srgbClr val="1E293B"/>
                </a:solidFill>
                <a:latin typeface="Montserrat"/>
              </a:rPr>
              <a:t>Why Us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de-DE" sz="1400" dirty="0">
                <a:solidFill>
                  <a:srgbClr val="475569"/>
                </a:solidFill>
                <a:latin typeface="Inter"/>
              </a:rPr>
              <a:t>Team: AI, IoT &amp; SaaS-Erfahrung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de-DE" sz="1400" dirty="0">
                <a:solidFill>
                  <a:srgbClr val="475569"/>
                </a:solidFill>
                <a:latin typeface="Inter"/>
              </a:rPr>
              <a:t>Funktionierender Prototyp mit Live-Demo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de-DE" sz="1400" dirty="0">
                <a:solidFill>
                  <a:srgbClr val="475569"/>
                </a:solidFill>
                <a:latin typeface="Inter"/>
              </a:rPr>
              <a:t>Erste Pilotergebnisse vorhanden</a:t>
            </a:r>
          </a:p>
          <a:p>
            <a:pPr marL="228600" indent="-228600" algn="l">
              <a:spcAft>
                <a:spcPts val="300"/>
              </a:spcAft>
              <a:buFont typeface="Arial"/>
              <a:buChar char="•"/>
            </a:pPr>
            <a:r>
              <a:rPr lang="de-DE" sz="1400" dirty="0">
                <a:solidFill>
                  <a:srgbClr val="475569"/>
                </a:solidFill>
                <a:latin typeface="Inter"/>
              </a:rPr>
              <a:t>Lean: Open-Source + Cloud-Stack</a:t>
            </a:r>
          </a:p>
        </p:txBody>
      </p:sp>
      <p:sp>
        <p:nvSpPr>
          <p:cNvPr id="30" name="CTA"/>
          <p:cNvSpPr txBox="1"/>
          <p:nvPr/>
        </p:nvSpPr>
        <p:spPr>
          <a:xfrm>
            <a:off x="457200" y="3937000"/>
            <a:ext cx="11277600" cy="9144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 anchor="ctr"/>
          <a:lstStyle/>
          <a:p>
            <a:pPr algn="ctr">
              <a:spcAft>
                <a:spcPts val="200"/>
              </a:spcAft>
            </a:pPr>
            <a:r>
              <a:rPr lang="de-DE" sz="2400" b="1" dirty="0">
                <a:solidFill>
                  <a:srgbClr val="1E293B"/>
                </a:solidFill>
                <a:latin typeface="Montserrat"/>
              </a:rPr>
              <a:t>"Jede Stadt braucht einen Gärtner, der nie schläft.</a:t>
            </a:r>
          </a:p>
          <a:p>
            <a:pPr algn="ctr"/>
            <a:r>
              <a:rPr lang="de-DE" sz="2400" b="1" dirty="0">
                <a:solidFill>
                  <a:srgbClr val="22C55E"/>
                </a:solidFill>
                <a:latin typeface="Montserrat"/>
              </a:rPr>
              <a:t>HappyPlant ist dieser Gärtner."</a:t>
            </a:r>
          </a:p>
        </p:txBody>
      </p:sp>
      <p:sp>
        <p:nvSpPr>
          <p:cNvPr id="31" name="Metrics"/>
          <p:cNvSpPr txBox="1"/>
          <p:nvPr/>
        </p:nvSpPr>
        <p:spPr>
          <a:xfrm>
            <a:off x="1828800" y="5016500"/>
            <a:ext cx="8534400" cy="4572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 anchor="ctr"/>
          <a:lstStyle/>
          <a:p>
            <a:pPr algn="ctr"/>
            <a:r>
              <a:rPr lang="de-DE" sz="1400" dirty="0">
                <a:solidFill>
                  <a:srgbClr val="94A3B8"/>
                </a:solidFill>
                <a:latin typeface="Inter"/>
              </a:rPr>
              <a:t>Live Demo verfügbar  ·  LTV:CAC 14.4x  ·  $3.9B Markt bis 2030</a:t>
            </a:r>
          </a:p>
        </p:txBody>
      </p:sp>
    </p:spTree>
    <p:extLst>
      <p:ext uri="{BB962C8B-B14F-4D97-AF65-F5344CB8AC3E}">
        <p14:creationId xmlns:p14="http://schemas.microsoft.com/office/powerpoint/2010/main" val="13829941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[1774179659112]">
  <a:themeElements>
    <a:clrScheme name="HappyPlant Light">
      <a:dk1>
        <a:srgbClr val="1E293B"/>
      </a:dk1>
      <a:lt1>
        <a:srgbClr val="FFFFFF"/>
      </a:lt1>
      <a:dk2>
        <a:srgbClr val="334155"/>
      </a:dk2>
      <a:lt2>
        <a:srgbClr val="F8FAFC"/>
      </a:lt2>
      <a:accent1>
        <a:srgbClr val="22C55E"/>
      </a:accent1>
      <a:accent2>
        <a:srgbClr val="4ADE80"/>
      </a:accent2>
      <a:accent3>
        <a:srgbClr val="86EFAC"/>
      </a:accent3>
      <a:accent4>
        <a:srgbClr val="16A34A"/>
      </a:accent4>
      <a:accent5>
        <a:srgbClr val="E2E8F0"/>
      </a:accent5>
      <a:accent6>
        <a:srgbClr val="94A3B8"/>
      </a:accent6>
      <a:hlink>
        <a:srgbClr val="467886"/>
      </a:hlink>
      <a:folHlink>
        <a:srgbClr val="96607D"/>
      </a:folHlink>
    </a:clrScheme>
    <a:fontScheme name="HappyPlant">
      <a:majorFont>
        <a:latin typeface="Montserra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BAB6E8F-E8E7-2E46-BDB0-68102C19F455}">
  <we:reference id="wa200010001" version="1.0.0.0" store="de-DE" storeType="OMEX"/>
  <we:alternateReferences>
    <we:reference id="wa200010001" version="1.0.0.0" store="wa200010001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299</Words>
  <Application>Microsoft Macintosh PowerPoint</Application>
  <PresentationFormat>Breitbild</PresentationFormat>
  <Paragraphs>88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9" baseType="lpstr">
      <vt:lpstr>Arial</vt:lpstr>
      <vt:lpstr>Inter</vt:lpstr>
      <vt:lpstr>Montserrat</vt:lpstr>
      <vt:lpstr>Office [1774179659112]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 Zauner</dc:creator>
  <cp:lastModifiedBy>Micha Zauner</cp:lastModifiedBy>
  <cp:revision>1</cp:revision>
  <dcterms:created xsi:type="dcterms:W3CDTF">2026-03-22T11:27:04Z</dcterms:created>
  <dcterms:modified xsi:type="dcterms:W3CDTF">2026-03-22T12:19:48Z</dcterms:modified>
</cp:coreProperties>
</file>